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Modeled AUM by synthetic client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AUM ($mm)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PB-1001</c:v>
                  </c:pt>
                  <c:pt idx="1">
                    <c:v>PB-1002</c:v>
                  </c:pt>
                  <c:pt idx="2">
                    <c:v>PB-1003</c:v>
                  </c:pt>
                  <c:pt idx="3">
                    <c:v>PB-1004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3.8</c:v>
                </c:pt>
                <c:pt idx="2">
                  <c:v>4.65</c:v>
                </c:pt>
                <c:pt idx="3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Asset allocation by client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Equity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PB-1001</c:v>
                  </c:pt>
                  <c:pt idx="1">
                    <c:v>PB-1002</c:v>
                  </c:pt>
                  <c:pt idx="2">
                    <c:v>PB-1003</c:v>
                  </c:pt>
                  <c:pt idx="3">
                    <c:v>PB-1004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52.8</c:v>
                </c:pt>
                <c:pt idx="1">
                  <c:v>21.6</c:v>
                </c:pt>
                <c:pt idx="2">
                  <c:v>65.6</c:v>
                </c:pt>
                <c:pt idx="3">
                  <c:v>16.1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Income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PB-1001</c:v>
                  </c:pt>
                  <c:pt idx="1">
                    <c:v>PB-1002</c:v>
                  </c:pt>
                  <c:pt idx="2">
                    <c:v>PB-1003</c:v>
                  </c:pt>
                  <c:pt idx="3">
                    <c:v>PB-1004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27.8</c:v>
                </c:pt>
                <c:pt idx="1">
                  <c:v>55.3</c:v>
                </c:pt>
                <c:pt idx="2">
                  <c:v>12.9</c:v>
                </c:pt>
                <c:pt idx="3">
                  <c:v>62.5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Alternatives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PB-1001</c:v>
                  </c:pt>
                  <c:pt idx="1">
                    <c:v>PB-1002</c:v>
                  </c:pt>
                  <c:pt idx="2">
                    <c:v>PB-1003</c:v>
                  </c:pt>
                  <c:pt idx="3">
                    <c:v>PB-1004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11.1</c:v>
                </c:pt>
                <c:pt idx="1">
                  <c:v>7.9</c:v>
                </c:pt>
                <c:pt idx="2">
                  <c:v>16.1</c:v>
                </c:pt>
                <c:pt idx="3">
                  <c:v>6.4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Cash</c:v>
                </c:pt>
              </c:strCache>
            </c:strRef>
          </c:tx>
          <c:spPr>
            <a:solidFill>
              <a:srgbClr val="8064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PB-1001</c:v>
                  </c:pt>
                  <c:pt idx="1">
                    <c:v>PB-1002</c:v>
                  </c:pt>
                  <c:pt idx="2">
                    <c:v>PB-1003</c:v>
                  </c:pt>
                  <c:pt idx="3">
                    <c:v>PB-1004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8.3</c:v>
                </c:pt>
                <c:pt idx="1">
                  <c:v>15.3</c:v>
                </c:pt>
                <c:pt idx="2">
                  <c:v>5.4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Modeled scenario gain/loss by client ($mm)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PB-1001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</c:v>
                  </c:pt>
                  <c:pt idx="1">
                    <c:v>Equity drawdown</c:v>
                  </c:pt>
                  <c:pt idx="2">
                    <c:v>Rates shock</c:v>
                  </c:pt>
                  <c:pt idx="3">
                    <c:v>Recession</c:v>
                  </c:pt>
                  <c:pt idx="4">
                    <c:v>Soft landing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0.26</c:v>
                </c:pt>
                <c:pt idx="1">
                  <c:v>-0.43</c:v>
                </c:pt>
                <c:pt idx="2">
                  <c:v>-0.21</c:v>
                </c:pt>
                <c:pt idx="3">
                  <c:v>-0.56</c:v>
                </c:pt>
                <c:pt idx="4">
                  <c:v>0.35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PB-1002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</c:v>
                  </c:pt>
                  <c:pt idx="1">
                    <c:v>Equity drawdown</c:v>
                  </c:pt>
                  <c:pt idx="2">
                    <c:v>Rates shock</c:v>
                  </c:pt>
                  <c:pt idx="3">
                    <c:v>Recession</c:v>
                  </c:pt>
                  <c:pt idx="4">
                    <c:v>Soft landing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0.16</c:v>
                </c:pt>
                <c:pt idx="1">
                  <c:v>-0.07</c:v>
                </c:pt>
                <c:pt idx="2">
                  <c:v>-0.18</c:v>
                </c:pt>
                <c:pt idx="3">
                  <c:v>-0.16</c:v>
                </c:pt>
                <c:pt idx="4">
                  <c:v>0.2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PB-1003</c:v>
                </c:pt>
              </c:strCache>
            </c:strRef>
          </c:tx>
          <c:spPr>
            <a:solidFill>
              <a:srgbClr val="9BBB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</c:v>
                  </c:pt>
                  <c:pt idx="1">
                    <c:v>Equity drawdown</c:v>
                  </c:pt>
                  <c:pt idx="2">
                    <c:v>Rates shock</c:v>
                  </c:pt>
                  <c:pt idx="3">
                    <c:v>Recession</c:v>
                  </c:pt>
                  <c:pt idx="4">
                    <c:v>Soft landing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0.33</c:v>
                </c:pt>
                <c:pt idx="1">
                  <c:v>-0.78</c:v>
                </c:pt>
                <c:pt idx="2">
                  <c:v>-0.24</c:v>
                </c:pt>
                <c:pt idx="3">
                  <c:v>-1.03</c:v>
                </c:pt>
                <c:pt idx="4">
                  <c:v>0.46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PB-1004</c:v>
                </c:pt>
              </c:strCache>
            </c:strRef>
          </c:tx>
          <c:spPr>
            <a:solidFill>
              <a:srgbClr val="8064A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</c:v>
                  </c:pt>
                  <c:pt idx="1">
                    <c:v>Equity drawdown</c:v>
                  </c:pt>
                  <c:pt idx="2">
                    <c:v>Rates shock</c:v>
                  </c:pt>
                  <c:pt idx="3">
                    <c:v>Recession</c:v>
                  </c:pt>
                  <c:pt idx="4">
                    <c:v>Soft landing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0.11</c:v>
                </c:pt>
                <c:pt idx="1">
                  <c:v>0.02</c:v>
                </c:pt>
                <c:pt idx="2">
                  <c:v>-0.15</c:v>
                </c:pt>
                <c:pt idx="3">
                  <c:v>0.01</c:v>
                </c:pt>
                <c:pt idx="4">
                  <c:v>0.14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1.2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Trade-control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Control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Pt>
            <c:idx val="2"/>
            <c:bubble3D val="0"/>
            <c:spPr>
              <a:solidFill>
                <a:srgbClr val="60BD6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Matched</c:v>
                </c:pt>
                <c:pt idx="1">
                  <c:v>Review</c:v>
                </c:pt>
                <c:pt idx="2">
                  <c:v>Exception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</c:v>
                </c:pt>
                <c:pt idx="1">
                  <c:v>1</c:v>
                </c:pt>
                <c:pt idx="2">
                  <c:v>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Alternatives document readiness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Investor eligibility</c:v>
                  </c:pt>
                  <c:pt idx="1">
                    <c:v>KYC/AML</c:v>
                  </c:pt>
                  <c:pt idx="2">
                    <c:v>Tax docs</c:v>
                  </c:pt>
                  <c:pt idx="3">
                    <c:v>Subscription agreement</c:v>
                  </c:pt>
                  <c:pt idx="4">
                    <c:v>Capital call instructions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Pending / correction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Investor eligibility</c:v>
                  </c:pt>
                  <c:pt idx="1">
                    <c:v>KYC/AML</c:v>
                  </c:pt>
                  <c:pt idx="2">
                    <c:v>Tax docs</c:v>
                  </c:pt>
                  <c:pt idx="3">
                    <c:v>Subscription agreement</c:v>
                  </c:pt>
                  <c:pt idx="4">
                    <c:v>Capital call instructions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Quarterly fee review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fee ($000)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ACCT-501</c:v>
                  </c:pt>
                  <c:pt idx="1">
                    <c:v>ACCT-502</c:v>
                  </c:pt>
                  <c:pt idx="2">
                    <c:v>ACCT-503</c:v>
                  </c:pt>
                  <c:pt idx="3">
                    <c:v>ACCT-504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8.44</c:v>
                </c:pt>
                <c:pt idx="1">
                  <c:v>7.13</c:v>
                </c:pt>
                <c:pt idx="2">
                  <c:v>8.72</c:v>
                </c:pt>
                <c:pt idx="3">
                  <c:v>5.25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8368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portfolio project — not investment advice or client work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3891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Private Bank Investment Professional Simulation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10698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7F1"/>
                </a:solidFill>
              </a:rPr>
              <a:t>Portfolio support • what-if scenarios • trade controls • fee billing • alternatives documentation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235440" y="5303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Jalaan Fields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235440" y="8412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DE7F1"/>
                </a:solidFill>
              </a:rPr>
              <a:t>Portfolio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$15.75M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807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modeled AUM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3429000" y="2423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29000" y="2807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synthetic clients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5349240" y="2423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2807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scenario tests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69480" y="2807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trade exceptions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9372600" y="2423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6534"/>
                </a:solidFill>
              </a:rPr>
              <a:t>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72600" y="2807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JPM role gaps addressed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77240" y="3977640"/>
            <a:ext cx="10652760" cy="1051560"/>
          </a:xfrm>
          <a:prstGeom prst="rect">
            <a:avLst/>
          </a:prstGeom>
          <a:solidFill>
            <a:srgbClr val="FFF4CC"/>
          </a:solidFill>
          <a:ln w="10160">
            <a:solidFill>
              <a:srgbClr val="E6D1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Purpose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Demonstrate practical readiness for an Investment Professional Associate role by building a realistic private-bank support workflow using synthetic data and executive-ready deliverables. Clear boundary: transferable analysis and controls — not live client work, investment advice, or brokerage execution experience.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Role-to-project 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 synthetic workflow designed around the daily support responsibilities of a U.S. Private Bank Investment Professional.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508760" cy="640080"/>
          </a:xfrm>
          <a:prstGeom prst="rect">
            <a:avLst/>
          </a:prstGeom>
          <a:solidFill>
            <a:srgbClr val="EAF2F8"/>
          </a:solidFill>
          <a:ln w="10160">
            <a:solidFill>
              <a:srgbClr val="CBD5E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Client profile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&amp; mandate</a:t>
            </a:r>
            <a:endParaRPr lang="en-US" sz="830" dirty="0"/>
          </a:p>
        </p:txBody>
      </p:sp>
      <p:sp>
        <p:nvSpPr>
          <p:cNvPr id="5" name="Text 3"/>
          <p:cNvSpPr/>
          <p:nvPr/>
        </p:nvSpPr>
        <p:spPr>
          <a:xfrm>
            <a:off x="2560320" y="1325880"/>
            <a:ext cx="1508760" cy="640080"/>
          </a:xfrm>
          <a:prstGeom prst="rect">
            <a:avLst/>
          </a:prstGeom>
          <a:solidFill>
            <a:srgbClr val="F3F6F8"/>
          </a:solidFill>
          <a:ln w="10160">
            <a:solidFill>
              <a:srgbClr val="CBD5E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Portfolio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review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4434840" y="1325880"/>
            <a:ext cx="1508760" cy="640080"/>
          </a:xfrm>
          <a:prstGeom prst="rect">
            <a:avLst/>
          </a:prstGeom>
          <a:solidFill>
            <a:srgbClr val="EAF2F8"/>
          </a:solidFill>
          <a:ln w="10160">
            <a:solidFill>
              <a:srgbClr val="CBD5E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What-if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scenarios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6309360" y="1325880"/>
            <a:ext cx="1508760" cy="640080"/>
          </a:xfrm>
          <a:prstGeom prst="rect">
            <a:avLst/>
          </a:prstGeom>
          <a:solidFill>
            <a:srgbClr val="F3F6F8"/>
          </a:solidFill>
          <a:ln w="10160">
            <a:solidFill>
              <a:srgbClr val="CBD5E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Trade blotter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controls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8183880" y="1325880"/>
            <a:ext cx="1508760" cy="640080"/>
          </a:xfrm>
          <a:prstGeom prst="rect">
            <a:avLst/>
          </a:prstGeom>
          <a:solidFill>
            <a:srgbClr val="EAF2F8"/>
          </a:solidFill>
          <a:ln w="10160">
            <a:solidFill>
              <a:srgbClr val="CBD5E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Alternatives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docs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0058400" y="1325880"/>
            <a:ext cx="1508760" cy="640080"/>
          </a:xfrm>
          <a:prstGeom prst="rect">
            <a:avLst/>
          </a:prstGeom>
          <a:solidFill>
            <a:srgbClr val="F3F6F8"/>
          </a:solidFill>
          <a:ln w="10160">
            <a:solidFill>
              <a:srgbClr val="CBD5E1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Fee billing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0B1F3A"/>
                </a:solidFill>
              </a:rPr>
              <a:t>review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521208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Why this matters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The project connects existing financial analysis and transaction-control experience to private-bank support duties: helping Investors and Client Advisors prepare for client conversations, monitor risk, and resolve documentation or trade-control issues.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6309360" y="2788920"/>
            <a:ext cx="50292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91C1C"/>
                </a:solidFill>
              </a:rPr>
              <a:t>What it does not claim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B91C1C"/>
                </a:solidFill>
              </a:rPr>
              <a:t>It does not present synthetic analysis as securities recommendations, client work, executed brokerage trades, discretionary authority, or registered investment-advisory experience.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1005840" y="4892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GitHub evidence package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4864608"/>
            <a:ext cx="1188720" cy="256032"/>
          </a:xfrm>
          <a:prstGeom prst="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3A"/>
                </a:solidFill>
              </a:rPr>
              <a:t>Excel model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434840" y="4864608"/>
            <a:ext cx="1417320" cy="256032"/>
          </a:xfrm>
          <a:prstGeom prst="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3A"/>
                </a:solidFill>
              </a:rPr>
              <a:t>Python analysis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035040" y="4864608"/>
            <a:ext cx="1325880" cy="256032"/>
          </a:xfrm>
          <a:prstGeom prst="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3A"/>
                </a:solidFill>
              </a:rPr>
              <a:t>Synthetic data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543800" y="4864608"/>
            <a:ext cx="1417320" cy="256032"/>
          </a:xfrm>
          <a:prstGeom prst="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3A"/>
                </a:solidFill>
              </a:rPr>
              <a:t>Executive deck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144000" y="4864608"/>
            <a:ext cx="1554480" cy="256032"/>
          </a:xfrm>
          <a:prstGeom prst="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3A"/>
                </a:solidFill>
              </a:rPr>
              <a:t>README + method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review dashboard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Client-level AUM, allocation, expected return, income yield and mandate drift checks.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188720"/>
          <a:ext cx="51206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188720"/>
          <a:ext cx="52578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822960" y="4617720"/>
            <a:ext cx="48463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91C1C"/>
                </a:solidFill>
              </a:rPr>
              <a:t>Mandate insight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B91C1C"/>
                </a:solidFill>
              </a:rPr>
              <a:t>One synthetic client has a mandate drift flag: fixed income below minimum. This creates a focused follow-up item for the Investor or Client Advisor.</a:t>
            </a:r>
            <a:endParaRPr lang="en-US" sz="820" dirty="0"/>
          </a:p>
        </p:txBody>
      </p:sp>
      <p:sp>
        <p:nvSpPr>
          <p:cNvPr id="7" name="Text 3"/>
          <p:cNvSpPr/>
          <p:nvPr/>
        </p:nvSpPr>
        <p:spPr>
          <a:xfrm>
            <a:off x="6309360" y="4617720"/>
            <a:ext cx="48463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Private-bank relevance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The dashboard summarizes portfolio condition quickly enough to support relationship reviews, risk conversations and internal follow-through.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What-if scenario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Estimated gain/loss across market environments to support client discussion preparation.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143000"/>
          <a:ext cx="66751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26680" y="1325880"/>
            <a:ext cx="34290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Key interpretation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Growth-oriented portfolios show the greatest downside sensitivity under recession and equity drawdown scenarios; conservative portfolios preserve capital better due to fixed income and cash exposure.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7726680" y="2788920"/>
            <a:ext cx="34290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Interview value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This slide lets you explain how you support an Investor: quantify risk, compare outcomes, clarify tradeoffs and translate analysis into follow-up questions.</a:t>
            </a:r>
            <a:endParaRPr lang="en-US" sz="820" dirty="0"/>
          </a:p>
        </p:txBody>
      </p:sp>
      <p:sp>
        <p:nvSpPr>
          <p:cNvPr id="7" name="Text 4"/>
          <p:cNvSpPr/>
          <p:nvPr/>
        </p:nvSpPr>
        <p:spPr>
          <a:xfrm>
            <a:off x="7726680" y="4251960"/>
            <a:ext cx="342900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91C1C"/>
                </a:solidFill>
              </a:rPr>
              <a:t>Follow-up action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B91C1C"/>
                </a:solidFill>
              </a:rPr>
              <a:t>Prepare a client review package for mandate drift, liquidity needs and risk tolerance alignment before any investor-led recommendation.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Trade controls and exception follow-through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Paper blotter vs trade blotter reconciliation simulates the control mindset needed for trade review.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1234440"/>
          <a:ext cx="35661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800600" y="1234440"/>
            <a:ext cx="2011680" cy="438912"/>
          </a:xfrm>
          <a:prstGeom prst="rect">
            <a:avLst/>
          </a:prstGeom>
          <a:solidFill>
            <a:srgbClr val="0B1F3A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Exception Type</a:t>
            </a:r>
            <a:endParaRPr lang="en-US" sz="780" dirty="0"/>
          </a:p>
        </p:txBody>
      </p:sp>
      <p:sp>
        <p:nvSpPr>
          <p:cNvPr id="6" name="Text 3"/>
          <p:cNvSpPr/>
          <p:nvPr/>
        </p:nvSpPr>
        <p:spPr>
          <a:xfrm>
            <a:off x="6812280" y="1234440"/>
            <a:ext cx="4206240" cy="438912"/>
          </a:xfrm>
          <a:prstGeom prst="rect">
            <a:avLst/>
          </a:prstGeom>
          <a:solidFill>
            <a:srgbClr val="0B1F3A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Example Control Response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4800600" y="1673352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Quantity mismatch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6812280" y="1673352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Review execution vs order; prepare cancel/correct or approval trail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4800600" y="2112264"/>
            <a:ext cx="2011680" cy="438912"/>
          </a:xfrm>
          <a:prstGeom prst="rect">
            <a:avLst/>
          </a:prstGeom>
          <a:solidFill>
            <a:srgbClr val="F3F6F8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Approval missing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6812280" y="2112264"/>
            <a:ext cx="4206240" cy="438912"/>
          </a:xfrm>
          <a:prstGeom prst="rect">
            <a:avLst/>
          </a:prstGeom>
          <a:solidFill>
            <a:srgbClr val="F3F6F8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Hold activity until advisor approval is documented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4800600" y="2551176"/>
            <a:ext cx="2011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Unmatched trade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6812280" y="2551176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Research trade source and escalate discrepancy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4800600" y="2990088"/>
            <a:ext cx="2011680" cy="438912"/>
          </a:xfrm>
          <a:prstGeom prst="rect">
            <a:avLst/>
          </a:prstGeom>
          <a:solidFill>
            <a:srgbClr val="F3F6F8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Price variance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6812280" y="2990088"/>
            <a:ext cx="4206240" cy="438912"/>
          </a:xfrm>
          <a:prstGeom prst="rect">
            <a:avLst/>
          </a:prstGeom>
          <a:solidFill>
            <a:srgbClr val="F3F6F8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Compare expected vs executed price and determine tolerance review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4800600" y="3886200"/>
            <a:ext cx="621792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Transferable strength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High-volume transaction monitoring, reconciliation and exception resolution are highly relevant. This project shows how that control discipline can transfer into brokerage-review support.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914400" y="50749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Boundary: simulated trade controls, not actual trade execution experience.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Alternatives documentation and billing review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 practical tracker for document completeness, client corrections, fee schedules and follow-through.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143000"/>
          <a:ext cx="56692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720840" y="1143000"/>
          <a:ext cx="44805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822960" y="4617720"/>
            <a:ext cx="48463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Follow-through items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Two alternatives subscriptions require follow-up: one tax document correction and one KYC/signature/capital-call instruction package.</a:t>
            </a:r>
            <a:endParaRPr lang="en-US" sz="820" dirty="0"/>
          </a:p>
        </p:txBody>
      </p:sp>
      <p:sp>
        <p:nvSpPr>
          <p:cNvPr id="7" name="Text 3"/>
          <p:cNvSpPr/>
          <p:nvPr/>
        </p:nvSpPr>
        <p:spPr>
          <a:xfrm>
            <a:off x="6309360" y="4617720"/>
            <a:ext cx="484632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B91C1C"/>
                </a:solidFill>
              </a:rPr>
              <a:t>Billing review items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B91C1C"/>
                </a:solidFill>
              </a:rPr>
              <a:t>Two accounts are flagged for review due to address or fee-schedule approval items before billing is finalized.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position this project for JPM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Use the project to reinforce readiness while preserving strict factual accuracy.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2331720" cy="448056"/>
          </a:xfrm>
          <a:prstGeom prst="rect">
            <a:avLst/>
          </a:prstGeom>
          <a:solidFill>
            <a:srgbClr val="0B1F3A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JPM responsibility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017520" y="1143000"/>
            <a:ext cx="3337560" cy="448056"/>
          </a:xfrm>
          <a:prstGeom prst="rect">
            <a:avLst/>
          </a:prstGeom>
          <a:solidFill>
            <a:srgbClr val="0B1F3A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Project evidence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355080" y="1143000"/>
            <a:ext cx="5120640" cy="448056"/>
          </a:xfrm>
          <a:prstGeom prst="rect">
            <a:avLst/>
          </a:prstGeom>
          <a:solidFill>
            <a:srgbClr val="0B1F3A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Interview message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1591056"/>
            <a:ext cx="23317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Scenario analysis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017520" y="1591056"/>
            <a:ext cx="33375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Five market cases by client portfolio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355080" y="1591056"/>
            <a:ext cx="51206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I can support Investor preparation with structured what-if analysis.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2039112"/>
            <a:ext cx="2331720" cy="448056"/>
          </a:xfrm>
          <a:prstGeom prst="rect">
            <a:avLst/>
          </a:prstGeom>
          <a:solidFill>
            <a:srgbClr val="F3F6F8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Trade review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017520" y="2039112"/>
            <a:ext cx="3337560" cy="448056"/>
          </a:xfrm>
          <a:prstGeom prst="rect">
            <a:avLst/>
          </a:prstGeom>
          <a:solidFill>
            <a:srgbClr val="F3F6F8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Paper vs trade blotter reconciliation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355080" y="2039112"/>
            <a:ext cx="5120640" cy="448056"/>
          </a:xfrm>
          <a:prstGeom prst="rect">
            <a:avLst/>
          </a:prstGeom>
          <a:solidFill>
            <a:srgbClr val="F3F6F8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I understand how to identify and escalate exceptions.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2487168"/>
            <a:ext cx="23317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Risk monitoring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17520" y="2487168"/>
            <a:ext cx="33375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Mandate drift, asset allocation, scenario downside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355080" y="2487168"/>
            <a:ext cx="51206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I can organize risk information for follow-up.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85800" y="2935224"/>
            <a:ext cx="2331720" cy="448056"/>
          </a:xfrm>
          <a:prstGeom prst="rect">
            <a:avLst/>
          </a:prstGeom>
          <a:solidFill>
            <a:srgbClr val="F3F6F8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Alternatives docs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17520" y="2935224"/>
            <a:ext cx="3337560" cy="448056"/>
          </a:xfrm>
          <a:prstGeom prst="rect">
            <a:avLst/>
          </a:prstGeom>
          <a:solidFill>
            <a:srgbClr val="F3F6F8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Subscription and KYC tracker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55080" y="2935224"/>
            <a:ext cx="5120640" cy="448056"/>
          </a:xfrm>
          <a:prstGeom prst="rect">
            <a:avLst/>
          </a:prstGeom>
          <a:solidFill>
            <a:srgbClr val="F3F6F8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I can manage detail-heavy documentation workflows.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85800" y="3383280"/>
            <a:ext cx="23317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Fee billing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17520" y="3383280"/>
            <a:ext cx="33375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Quarterly fee review and exception flags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55080" y="3383280"/>
            <a:ext cx="51206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I can support accuracy in account administration.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4663440"/>
            <a:ext cx="10241280" cy="777240"/>
          </a:xfrm>
          <a:prstGeom prst="rect">
            <a:avLst/>
          </a:prstGeom>
          <a:solidFill>
            <a:srgbClr val="FFF4CC"/>
          </a:solidFill>
          <a:ln w="10160">
            <a:solidFill>
              <a:srgbClr val="E6D18B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Resume line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11827"/>
                </a:solidFill>
              </a:rPr>
              <a:t>Private Bank Investment Professional Simulation | Built synthetic portfolio-support workflow covering allocation review, scenario analysis, trade controls, fee schedules and alternatives documentation; produced Excel dashboard and executive deck.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868680" y="57424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Final positioning: credible readiness, not overstated experience.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Private Bank Investment Professional Simulation</dc:title>
  <dc:subject>Private Bank Investment Professional Simulation</dc:subject>
  <dc:creator>Jalaan Fields</dc:creator>
  <cp:lastModifiedBy>Jalaan Fields</cp:lastModifiedBy>
  <cp:revision>1</cp:revision>
  <dcterms:created xsi:type="dcterms:W3CDTF">2026-08-11T16:29:44Z</dcterms:created>
  <dcterms:modified xsi:type="dcterms:W3CDTF">2026-08-11T16:29:44Z</dcterms:modified>
</cp:coreProperties>
</file>